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Y25 · 2026–2027 · TRIMESTER 4  |  25CS1302E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Package Booking Portal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Database-Driven Platform for Itinerary Selection, Reservation Management and Secure Transaction Handling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38404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 ·  SECTION 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27939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1298448" y="4251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Gireesh Chowdhary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4251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2520090215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73659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36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5" name="Text 13"/>
          <p:cNvSpPr/>
          <p:nvPr/>
        </p:nvSpPr>
        <p:spPr>
          <a:xfrm>
            <a:off x="1298448" y="4709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Srikar Reddy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47091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2520090164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19379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93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19" name="Text 17"/>
          <p:cNvSpPr/>
          <p:nvPr/>
        </p:nvSpPr>
        <p:spPr>
          <a:xfrm>
            <a:off x="1298448" y="51663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97680" y="5166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2520090133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Database Systems Engineering and Distributed Backend Development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23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675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rapid digitisation of the tourism industry has exposed the inefficiencies of traditional travel reservation systems — fragmented information, manual entry errors, and slow response times. The Travel Package Booking Portal is a centralized, responsive web platform built to automate itinerary selection, reservation management, and transaction handling.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6675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integrates a User Client Module and an Admin Control Panel: travelers search, filter and customize packages and pay securely, while administrators manage listings, inventory, dynamic pricing and reservation analytics in real time — built on a modular architecture with secure database management.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35240" y="1600200"/>
            <a:ext cx="3977640" cy="4206240"/>
          </a:xfrm>
          <a:prstGeom prst="roundRect">
            <a:avLst>
              <a:gd name="adj" fmla="val 2759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PILLARS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09560" y="22860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49640" y="2258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549640" y="2542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destination, budget and theme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09560" y="31546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49640" y="3127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49640" y="34107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booking confirmation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09560" y="40233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49640" y="3995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49640" y="4279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reservation tracking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09560" y="48920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49640" y="4864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49640" y="5148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 management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25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and fragmented travel-booking workflows create friction for both travelers and operators: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BB0C2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68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Information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807208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data scattered across brochures, spreadsheets and disconnected systems with no single source of truth.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BB0C2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468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708660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Errors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2807208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Hand-keyed bookings and pricing updates lead to inconsistent, error-prone records.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BB0C2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46304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Times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727448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confirmation and payment reconciliation delay booking turnaround for customers.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1605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BB0C2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389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708660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86600" y="4727448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lack a live view of inventory, pricing changes and reservation trends.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26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7899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1109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11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 expectations have shifted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travelers expect instant, self-service booking experiences similar to other e-commerce platforms.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07899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8152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81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1600200" y="295351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overhead is costly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31927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reservation handling consumes staff time that could be spent on service quality.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107899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1600200" y="4123944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 need real 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48970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need live analytics on demand, pricing and occupancy to plan effectively.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02936"/>
            <a:ext cx="107899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42239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22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1600200" y="5294376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systems scale better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56601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well-structured database removes duplication and keeps information consistent.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25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709160" y="171907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E7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centralized, database-backed booking platform for travel packages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0" y="171907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4E97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92240" y="1810512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travelers to search, filter and customize itineraries by destination, budget and theme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32004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E7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8680" y="32918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secure payment processing with instant booking confirmation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312724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332720" y="32004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4E97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329184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administrators tools to manage listings, inventory and dynamic pricing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60857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46817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3E7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68680" y="477316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real-time reservation analytics for operational decision-making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460857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0332720" y="46817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4E97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92240" y="4773168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data consistency and safe handling of concurrent bookings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23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informing this project spans four broad areas: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73152" cy="173736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2219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Travel Agency (OTA) Architectures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41248" y="267919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of platforms such as OTAs show the value of a single centralized package catalog with dynamic, demand-based pricing.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05740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057400"/>
            <a:ext cx="73152" cy="173736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2219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for E-Commerce Transactions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64808" y="267919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normalization and transaction management establishes patterns for consistent, conflict-free order and payment records.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23360"/>
            <a:ext cx="73152" cy="173736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1879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vs. NoSQL Trade-offs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41248" y="464515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work on RDBMS and document-oriented stores (e.g. MongoDB) guides schema choices for flexible, semi-structured booking data.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402336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4023360"/>
            <a:ext cx="73152" cy="173736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6464808" y="41879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on Booking Funnels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64808" y="464515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studies highlight search-and-filter design and confirmation feedback as key drivers of completed bookings.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22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maturity of OTA platforms, existing systems commonly fall short in: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438912" cy="438912"/>
          </a:xfrm>
          <a:prstGeom prst="ellipse">
            <a:avLst/>
          </a:prstGeom>
          <a:solidFill>
            <a:srgbClr val="C94C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48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campus / small-operator systems remain monolithic and difficult to extend or scale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EAF1F6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971800"/>
            <a:ext cx="438912" cy="438912"/>
          </a:xfrm>
          <a:prstGeom prst="ellipse">
            <a:avLst/>
          </a:prstGeom>
          <a:solidFill>
            <a:srgbClr val="C94C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48" dirty="0"/>
          </a:p>
        </p:txBody>
      </p:sp>
      <p:sp>
        <p:nvSpPr>
          <p:cNvPr id="12" name="Text 10"/>
          <p:cNvSpPr/>
          <p:nvPr/>
        </p:nvSpPr>
        <p:spPr>
          <a:xfrm>
            <a:off x="1371600" y="2880360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real-time synchronization between inventory, pricing and the booking front end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749040"/>
            <a:ext cx="438912" cy="438912"/>
          </a:xfrm>
          <a:prstGeom prst="ellipse">
            <a:avLst/>
          </a:prstGeom>
          <a:solidFill>
            <a:srgbClr val="C9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49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48" dirty="0"/>
          </a:p>
        </p:txBody>
      </p:sp>
      <p:sp>
        <p:nvSpPr>
          <p:cNvPr id="16" name="Text 14"/>
          <p:cNvSpPr/>
          <p:nvPr/>
        </p:nvSpPr>
        <p:spPr>
          <a:xfrm>
            <a:off x="1371600" y="3657600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solutions unify traveler-facing booking with a live admin analytics dashboard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EAF1F6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526280"/>
            <a:ext cx="438912" cy="438912"/>
          </a:xfrm>
          <a:prstGeom prst="ellipse">
            <a:avLst/>
          </a:prstGeom>
          <a:solidFill>
            <a:srgbClr val="C9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526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48" dirty="0"/>
          </a:p>
        </p:txBody>
      </p:sp>
      <p:sp>
        <p:nvSpPr>
          <p:cNvPr id="20" name="Text 18"/>
          <p:cNvSpPr/>
          <p:nvPr/>
        </p:nvSpPr>
        <p:spPr>
          <a:xfrm>
            <a:off x="1371600" y="4434840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booking conflicts (double-booking the same package/slot) are often poorly handled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0789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5303520"/>
            <a:ext cx="438912" cy="438912"/>
          </a:xfrm>
          <a:prstGeom prst="ellipse">
            <a:avLst/>
          </a:prstGeom>
          <a:solidFill>
            <a:srgbClr val="C9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303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48" dirty="0"/>
          </a:p>
        </p:txBody>
      </p:sp>
      <p:sp>
        <p:nvSpPr>
          <p:cNvPr id="24" name="Text 22"/>
          <p:cNvSpPr/>
          <p:nvPr/>
        </p:nvSpPr>
        <p:spPr>
          <a:xfrm>
            <a:off x="1371600" y="5212080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of itineraries by theme or budget is frequently rigid or absent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26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agile, modular development approach carries the project from requirements to a working portal: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377440" y="3017520"/>
            <a:ext cx="32918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41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35424" y="3017520"/>
            <a:ext cx="32918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06624" y="233172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706624" y="2441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98064" y="2834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93408" y="3017520"/>
            <a:ext cx="32918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64608" y="233172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2441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56048" y="2834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851392" y="3017520"/>
            <a:ext cx="32918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22592" y="233172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022592" y="2441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14032" y="2834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80576" y="233172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9180576" y="2441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72016" y="2834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3159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64515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user and admin needs, entities, and functional scope from the abstract.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07792" y="43159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07792" y="464515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packages, users, bookings and payments as MongoDB collections.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38344" y="43159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Development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38344" y="464515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 endpoints with Node.js, tested via Postman.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68896" y="43159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68896" y="464515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client UI to the API for search, booking and admin flows.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299448" y="43159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299448" y="4645152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booking correctness, data consistency and error handling.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36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10896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75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Client &amp; Admin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Panel (Web UI)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931920" y="2537460"/>
            <a:ext cx="777240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09160" y="1828800"/>
            <a:ext cx="310896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975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(Node.js Server Logic)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18120" y="2537460"/>
            <a:ext cx="777240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0" y="1828800"/>
            <a:ext cx="3108960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1975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(Packages, Users, Bookings)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7490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Book · Pay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7490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Gateway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0916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handling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95360" y="37490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3913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95360" y="4187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· Pricing · Analytics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77440" y="3246120"/>
            <a:ext cx="0" cy="502920"/>
          </a:xfrm>
          <a:prstGeom prst="line">
            <a:avLst/>
          </a:prstGeom>
          <a:noFill/>
          <a:ln w="19050">
            <a:solidFill>
              <a:srgbClr val="5B6B79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63640" y="3246120"/>
            <a:ext cx="0" cy="502920"/>
          </a:xfrm>
          <a:prstGeom prst="line">
            <a:avLst/>
          </a:prstGeom>
          <a:noFill/>
          <a:ln w="19050">
            <a:solidFill>
              <a:srgbClr val="5B6B79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49840" y="3246120"/>
            <a:ext cx="0" cy="502920"/>
          </a:xfrm>
          <a:prstGeom prst="line">
            <a:avLst/>
          </a:prstGeom>
          <a:noFill/>
          <a:ln w="19050">
            <a:solidFill>
              <a:srgbClr val="5B6B79"/>
            </a:solidFill>
            <a:prstDash val="dash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22960" y="4892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architecture: a responsive client for both traveler and admin roles, a Node.js API layer enforcing business logic, and a MongoDB data layer ensuring consistent, queryable storage.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29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BB0C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code editor for writing and debugging frontend and backend code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BB0C2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9476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452628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2971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 executing server-side logic and managing dependencies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BB0C2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94767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827532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Compass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75320" y="2971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database with a GUI for inspecting, querying and managing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BB0C2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2336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77724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5257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debugging and documenting RESTful backend APIs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BB0C2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2336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452628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26280" y="5257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version control for tracking changes and commit history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  <a:effectLst>
            <a:outerShdw sx="100000" sy="100000" kx="0" ky="0" algn="bl" rotWithShape="0" blurRad="63500" dist="25400" dir="5400000">
              <a:srgbClr val="9BB0C2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423367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8275320" y="4892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75320" y="52578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endpoints connecting the client interfaces to backend logic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35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/ Input Details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entities modeled as MongoDB collections: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78992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2057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7824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0789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0" y="2514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theme, duration, base price, availability, media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0" y="2514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Admin-curated catalog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0789920" cy="594360"/>
          </a:xfrm>
          <a:prstGeom prst="rect">
            <a:avLst/>
          </a:prstGeom>
          <a:solidFill>
            <a:srgbClr val="EA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089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743200" y="31089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contact details, credentials, booking history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3108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 self-registration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0789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03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43200" y="3703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reference, traveler, dates, status, itinerary customizations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0" y="3703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at checkout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10789920" cy="594360"/>
          </a:xfrm>
          <a:prstGeom prst="rect">
            <a:avLst/>
          </a:prstGeom>
          <a:solidFill>
            <a:srgbClr val="EAF1F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97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43200" y="42976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transaction ID, gateway status, timestamp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0" y="4297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callback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10789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892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743200" y="48920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changes, pricing updates, analytics snapshots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0" y="48920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Panel actions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30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– Module 1: User Client Module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Traveler-facing interface for discovering, customizing and booking travel packages.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8072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7340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71600" y="3063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packages by destination, budget and theme with responsive filtering.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6060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28072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27340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Customization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95160" y="3063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dates, add-ons and preferences before checkout.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2245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151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Checkout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4480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payment through an integrated, encrypted payment flow.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40233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3368" y="42245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373368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4151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 &amp; History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95160" y="4480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confirmation with a persistent record of past bookings.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27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– Module 2: Admin Control Panel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Operator-facing dashboard for managing catalog, pricing and performance.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8072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7340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71600" y="3063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 and retire package listings (CRUD operations).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6060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28072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27340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Monitoring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95160" y="3063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real-time availability across all active packages.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224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151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4480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prices centrally and reflect changes instantly to travelers.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40233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3368" y="422452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73368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4151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Analytics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95160" y="4480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booking trends and revenue in real time.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27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– Module 3: Booking &amp; Payment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core that keeps bookings, inventory and payments consistent.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80720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7340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Handling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71600" y="3063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booking creation with inventory and payment updates.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6060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280720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27340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Integration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95160" y="30632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payments and verifies gateway responses.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22452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151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Concurrency-Safe Updates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71600" y="4480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double-booking through safe, atomic inventory writes.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40233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3368" y="422452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6373368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4151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Generation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95160" y="4480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booking references and confirmation notices automatically.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27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2" dirty="0"/>
          </a:p>
        </p:txBody>
      </p:sp>
      <p:sp>
        <p:nvSpPr>
          <p:cNvPr id="7" name="Text 5"/>
          <p:cNvSpPr/>
          <p:nvPr/>
        </p:nvSpPr>
        <p:spPr>
          <a:xfrm>
            <a:off x="1005840" y="20025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backend server running REST endpoints locally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2" dirty="0"/>
          </a:p>
        </p:txBody>
      </p:sp>
      <p:sp>
        <p:nvSpPr>
          <p:cNvPr id="10" name="Text 8"/>
          <p:cNvSpPr/>
          <p:nvPr/>
        </p:nvSpPr>
        <p:spPr>
          <a:xfrm>
            <a:off x="1005840" y="24597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Compass for schema inspection and query testing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2" dirty="0"/>
          </a:p>
        </p:txBody>
      </p:sp>
      <p:sp>
        <p:nvSpPr>
          <p:cNvPr id="13" name="Text 11"/>
          <p:cNvSpPr/>
          <p:nvPr/>
        </p:nvSpPr>
        <p:spPr>
          <a:xfrm>
            <a:off x="1005840" y="29169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collections for endpoint-level API testing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2" dirty="0"/>
          </a:p>
        </p:txBody>
      </p:sp>
      <p:sp>
        <p:nvSpPr>
          <p:cNvPr id="16" name="Text 14"/>
          <p:cNvSpPr/>
          <p:nvPr/>
        </p:nvSpPr>
        <p:spPr>
          <a:xfrm>
            <a:off x="1005840" y="33741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Git-based branching for isolated feature development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1600200"/>
            <a:ext cx="0" cy="4206240"/>
          </a:xfrm>
          <a:prstGeom prst="line">
            <a:avLst/>
          </a:prstGeom>
          <a:noFill/>
          <a:ln w="19050">
            <a:solidFill>
              <a:srgbClr val="DD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2057400"/>
            <a:ext cx="292608" cy="29260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2" dirty="0"/>
          </a:p>
        </p:txBody>
      </p:sp>
      <p:sp>
        <p:nvSpPr>
          <p:cNvPr id="21" name="Text 19"/>
          <p:cNvSpPr/>
          <p:nvPr/>
        </p:nvSpPr>
        <p:spPr>
          <a:xfrm>
            <a:off x="6766560" y="20025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booking requests on the same package/date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2514600"/>
            <a:ext cx="292608" cy="29260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2" dirty="0"/>
          </a:p>
        </p:txBody>
      </p:sp>
      <p:sp>
        <p:nvSpPr>
          <p:cNvPr id="24" name="Text 22"/>
          <p:cNvSpPr/>
          <p:nvPr/>
        </p:nvSpPr>
        <p:spPr>
          <a:xfrm>
            <a:off x="6766560" y="24597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response under varied query loads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309360" y="2971800"/>
            <a:ext cx="292608" cy="29260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2" dirty="0"/>
          </a:p>
        </p:txBody>
      </p:sp>
      <p:sp>
        <p:nvSpPr>
          <p:cNvPr id="27" name="Text 25"/>
          <p:cNvSpPr/>
          <p:nvPr/>
        </p:nvSpPr>
        <p:spPr>
          <a:xfrm>
            <a:off x="6766560" y="29169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payment flow, including failure handling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0" y="3429000"/>
            <a:ext cx="292608" cy="29260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6766560" y="33741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updates propagating to the traveler-facing view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160520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F7FAFC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31596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459028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follows an iterative cycle — each module is validated with Postman before frontend integration, keeping API contracts stable across the User Client and Admin Control Panel.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35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outcomes from the implemented modules and test scenarios: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Catalog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all packages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1031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240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Bookings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targeted, via atomic inventory updates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1031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240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7220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Booking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staff intervention required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778240" y="210312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778240" y="2240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915400" y="2971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Visibility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1540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inventory, pricing and analytics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outcomes are expected from the system design and module-level testing described in the Experimental Setup, and are to be confirmed through full end-to-end evaluation.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23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planned for evaluating the portal once integration testing is complete: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789920" cy="457200"/>
          </a:xfrm>
          <a:prstGeom prst="roundRect">
            <a:avLst>
              <a:gd name="adj" fmla="val 12000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2103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0789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60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25603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of core endpoints (search, booking, payment)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0" y="25603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load tests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27248"/>
            <a:ext cx="10789920" cy="566928"/>
          </a:xfrm>
          <a:prstGeom prst="rect">
            <a:avLst/>
          </a:prstGeom>
          <a:solidFill>
            <a:srgbClr val="EA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272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Latency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12724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return filtered package results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0" y="312724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timing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94176"/>
            <a:ext cx="10789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941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Success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369417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bookings completed without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63840" y="36941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61104"/>
            <a:ext cx="10789920" cy="566928"/>
          </a:xfrm>
          <a:prstGeom prst="rect">
            <a:avLst/>
          </a:prstGeom>
          <a:solidFill>
            <a:srgbClr val="EAF1F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611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Handling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426110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under simultaneous booking attempts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0" y="426110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concurrent requests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28032"/>
            <a:ext cx="10789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8280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840480" y="48280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inventory after concurrent updates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0" y="48280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Post-test database audit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30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/ Working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to be walked through in the live demonstration: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2103120" cy="1280160"/>
          </a:xfrm>
          <a:prstGeom prst="roundRect">
            <a:avLst>
              <a:gd name="adj" fmla="val 4286"/>
            </a:avLst>
          </a:prstGeom>
          <a:solidFill>
            <a:srgbClr val="EAF1F6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2743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Package Search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budget and theme filters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520440" y="2331720"/>
            <a:ext cx="2103120" cy="1280160"/>
          </a:xfrm>
          <a:prstGeom prst="roundRect">
            <a:avLst>
              <a:gd name="adj" fmla="val 4286"/>
            </a:avLst>
          </a:prstGeom>
          <a:solidFill>
            <a:srgbClr val="EAF1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2743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Details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74720" y="4251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 breakdown and customization options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10312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263640" y="2331720"/>
            <a:ext cx="2103120" cy="1280160"/>
          </a:xfrm>
          <a:prstGeom prst="roundRect">
            <a:avLst>
              <a:gd name="adj" fmla="val 4286"/>
            </a:avLst>
          </a:prstGeom>
          <a:solidFill>
            <a:srgbClr val="EAF1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086600" y="2743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Checkout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17920" y="4251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instant confirmation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78240" y="210312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006840" y="2331720"/>
            <a:ext cx="2103120" cy="1280160"/>
          </a:xfrm>
          <a:prstGeom prst="roundRect">
            <a:avLst>
              <a:gd name="adj" fmla="val 4286"/>
            </a:avLst>
          </a:prstGeom>
          <a:solidFill>
            <a:srgbClr val="EAF1F6"/>
          </a:solidFill>
          <a:ln/>
        </p:spPr>
      </p:sp>
      <p:sp>
        <p:nvSpPr>
          <p:cNvPr id="25" name="Shape 23"/>
          <p:cNvSpPr/>
          <p:nvPr/>
        </p:nvSpPr>
        <p:spPr>
          <a:xfrm>
            <a:off x="9829800" y="27432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98298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611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961120" y="4251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pricing and analytics overview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application screenshots will replace these placeholders once the demo build is finalized.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31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789920" cy="502920"/>
          </a:xfrm>
          <a:prstGeom prst="roundRect">
            <a:avLst>
              <a:gd name="adj" fmla="val 10909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1691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B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/ Manual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0" y="1691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Travel Portal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07899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94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spreadsheets / manual records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0" y="21945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centralized MongoDB database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0789920" cy="685800"/>
          </a:xfrm>
          <a:prstGeom prst="rect">
            <a:avLst/>
          </a:prstGeom>
          <a:solidFill>
            <a:srgbClr val="EAF1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80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Entry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880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0" y="2880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validated at the API layer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07899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661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Updates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5661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Delayed, applied piecemeal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0" y="35661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dynamic and consistent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0789920" cy="685800"/>
          </a:xfrm>
          <a:prstGeom prst="rect">
            <a:avLst/>
          </a:prstGeom>
          <a:solidFill>
            <a:srgbClr val="EAF1F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51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Visibility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4251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Periodic, manual reports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0" y="4251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reservation analytics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07899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37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4937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confirmation turnaround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15200" y="4937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search, booking and confirmation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29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6E7E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647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2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booking conflicts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806440" y="2167128"/>
            <a:ext cx="4572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355080" y="16916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1F0E7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7647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37960" y="19842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Atomic, transaction-safe inventory updates in MongoDB prevent double-booking.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6E7E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3522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2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payment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06440" y="3337560"/>
            <a:ext cx="4572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55080" y="2862072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1F0E7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93522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37960" y="31546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handled through an integrated gateway with encrypted transmission.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032504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6E7E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056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2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43251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pricing in sync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06440" y="4507992"/>
            <a:ext cx="4572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55080" y="4032504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1F0E7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1056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537960" y="432511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updates write directly to the shared database, reflected instantly to travelers.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202936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6E7E3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2760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2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" y="54955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module complexity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806440" y="5678424"/>
            <a:ext cx="4572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55080" y="5202936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1F0E7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52760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4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37960" y="5495544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client/admin/API architecture keeps components independently maintainable.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33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944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booking and admin functionality to iOS and Android.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9659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452628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Recommendations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944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packages based on browsing and booking history.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9659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827532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&amp; Language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5320" y="2944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accessibility for international travelers.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OTA Integration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50474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inventory with external travel marketplaces.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0690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452628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Rewards Program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50474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repeat bookings through incentive tracking.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6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0690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827532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75320" y="50474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forecasting for demand and pricing strategy.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35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6675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Travel Package Booking Portal replaces fragmented, manual travel reservation workflows with a single, modular platform. By combining a traveler-facing client with a real-time Admin Control Panel over a consistent database layer, the system reduces manual errors, speeds up booking, and gives operators live visibility into inventory, pricing and demand.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55280" y="214884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8458200" y="213055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consistent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2715768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845820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self-service bookings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3282696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8458200" y="3264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admin analytics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3849624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8458200" y="383133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scalable design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19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consulted during development: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51560" y="2057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Foundation. Node.js Documentation. https://nodejs.org/en/docs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2560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MongoDB, Inc. MongoDB Manual and Compass Documentation. https://www.mongodb.com/docs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3063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Postman, Inc. Postman Learning Center. https://learning.postman.com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35661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Git. Pro Git Book. https://git-scm.com/book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0789920" cy="1188720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348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specific academic papers, textbooks, or articles used in your Literature Survey here, in your department's required citation style.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17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Package Booking Portal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46304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965960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8636" y="3977640"/>
            <a:ext cx="20116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Gireesh Chowdhary   ·   Srikar Reddy   ·   Sanjay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5720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  ·  Travel Package Booking Portal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424160" y="219456"/>
            <a:ext cx="1234440" cy="569723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430">
                <a:alpha val="18000"/>
              </a:srgbClr>
            </a:outerShdw>
          </a:effectLst>
        </p:spPr>
      </p:sp>
      <p:pic>
        <p:nvPicPr>
          <p:cNvPr id="11" name="Image 0" descr="/home/claude/travel_ppt/klh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292608"/>
            <a:ext cx="1051560" cy="4234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2026-09-16T03:16:32Z</dcterms:created>
  <dcterms:modified xsi:type="dcterms:W3CDTF">2026-09-16T03:16:32Z</dcterms:modified>
</cp:coreProperties>
</file>